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6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4899F2-ED06-422C-811C-F1F2717146E1}" v="49" dt="2026-04-30T12:40:54.315"/>
    <p1510:client id="{024AC5FB-9C54-4010-8430-D54AF55C4C36}" v="261" dt="2026-05-01T16:00:11.889"/>
    <p1510:client id="{3332D127-3B03-461D-BCF4-06E8DB1E019A}" v="12" dt="2026-05-01T15:45:05.655"/>
    <p1510:client id="{98E814F0-72A9-48B4-AA39-E09EFF02823F}" v="29" dt="2026-05-01T15:44:16.649"/>
    <p1510:client id="{A6418B7C-7F3E-4F18-8498-DF82D94E6C96}" v="260" dt="2026-05-01T15:24:57.0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D6F5-A9D4-C22B-732C-A31A172FB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2093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AFD6E-3459-290F-1147-F0C47ACEE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6774"/>
            <a:ext cx="9144000" cy="106689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cap="all" spc="3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74D3-6FB9-5549-B0F2-FD61E82D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E39B8-A7CB-4B82-AC0C-44B99F546761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39BBC-C979-2C77-493E-CF5498AE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13B7E-A51C-D9CD-2189-650A9D63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103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55F0-A6D4-C39B-394F-0B16E9C9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1860F-B260-57CE-E12B-2C9486031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45C9F-D94D-E5D3-B73A-20621FA53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E3940-CA92-4FEE-A698-62CF7BC5AC36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AB243-BB42-966A-4708-15C9B11D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3A3BD-2CC5-03D3-4CD6-E31A55BA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663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8633-AC3B-E617-1C54-84932DDD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236" y="1514688"/>
            <a:ext cx="8584164" cy="3138875"/>
          </a:xfrm>
        </p:spPr>
        <p:txBody>
          <a:bodyPr anchor="b">
            <a:normAutofit/>
          </a:bodyPr>
          <a:lstStyle>
            <a:lvl1pPr>
              <a:defRPr sz="36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8C242-ECAB-AEC3-7E9B-F9854AF31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236" y="4963885"/>
            <a:ext cx="8584165" cy="1125765"/>
          </a:xfrm>
        </p:spPr>
        <p:txBody>
          <a:bodyPr>
            <a:normAutofit/>
          </a:bodyPr>
          <a:lstStyle>
            <a:lvl1pPr marL="0" indent="0">
              <a:buNone/>
              <a:defRPr sz="1600" cap="all" spc="300" baseline="0">
                <a:solidFill>
                  <a:schemeClr val="tx2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D9B82-EEF4-2CD7-61FE-BAFB2B96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CD641-6C35-45D1-9313-2719E9EA8AD8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222B6-F7A8-70A5-B023-FCAD5D7C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5D758-2E38-8A8D-75BC-667F6A23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558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0DFF-11BD-F5F4-35D4-1986ABBD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1279-E9A9-702E-144D-61114B788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2159175"/>
            <a:ext cx="4977453" cy="40177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4E624-7A76-56EC-FA0D-E2AA8EF9B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91" y="2159175"/>
            <a:ext cx="4985785" cy="40177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D7DF5-30AD-AE47-D516-5CEE8277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1268-3A74-4110-8F08-063DFB8BB885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5C503-B649-B083-6341-F6E376AF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3EA35-CF5A-DB36-8B14-5C184B6F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550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A3D8-FDD9-329B-BCC6-BBF47F01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48" y="602671"/>
            <a:ext cx="10429303" cy="76892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EF7DC-0699-CB3C-A7CB-39035D89A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349" y="1696325"/>
            <a:ext cx="4963538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2EB40-99E1-CCA4-BAFA-F51AA56CF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349" y="2344025"/>
            <a:ext cx="4963538" cy="3833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979BC-6B50-751D-D569-F360938B0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2669" y="1696325"/>
            <a:ext cx="4987982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3A26F-230E-2D25-6BDC-6ECA00FAE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2669" y="2344025"/>
            <a:ext cx="4987982" cy="3833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82A01-DE7C-3BA4-96FF-CDEF2F60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1C1AF-C1FB-48A7-98B4-E595E63F6614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AA828-0166-8ECD-BCE8-654BEFDD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0C0D2-459A-04AA-FD90-7687D2FE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935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549F-FA71-857F-E02E-3CB63CE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69611-F911-D3D4-B613-ACCDA56C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44C44-5F8C-4BEA-BBCE-8694F126DC43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A1961-0B6B-8FEB-F2CB-C42E90EF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A80E-3139-9F1B-9C3E-2A76628C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675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54789-9F96-511A-0FB6-24F6A8418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E56F9-C8F2-4EF7-8042-704C94FF2795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80399-ADEF-8F74-9F59-6AD804C9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6A34F-ABAB-9C4E-38A1-C6EEB944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926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3917-2BF6-1CE2-F34B-49F0D09A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640713" cy="206259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5B8F-A9F3-8583-FFF1-175021F17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898" y="807867"/>
            <a:ext cx="5922489" cy="505318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90AFF-A949-CE9E-6B94-C1B619612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0713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5267E-088F-FB9A-9469-551890F2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32DF-953D-44BD-83F8-5D8DA76EA12A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A3FFC-B3A6-C0B6-5DAE-70BE0D6F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8D35F-BC2E-8D14-060F-449CBAF7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416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09ED-ED97-A3CE-5569-77B45F41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0881"/>
            <a:ext cx="3639312" cy="206259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3BB3A-9E24-DE4C-9619-1502F1B6F38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247408" y="919595"/>
            <a:ext cx="6107979" cy="501361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4CE1F-29E0-88BB-8489-E58236B8B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3889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B7212-6816-FFD1-50B2-58844AD3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F326D-65F4-4B2F-9A62-9E4BD9402C47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17744-5A24-B7B7-5FD6-E98E6083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DA4D1-A71D-A7A6-3D0C-294E5D28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389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90AE-F72C-4C2E-E2D0-7A8D7EEF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1B46D-142E-8C8E-C4F4-B6B1586A6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D92E3-36AD-2615-0166-6B73C34F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42F6F-0846-489A-A4BC-61B476BE2887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BFB69-319D-2284-2734-217160D3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83B0-C775-5BD2-8EC6-A41D19BC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374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40463-6D41-8D45-088A-540B0D188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92281"/>
            <a:ext cx="2628900" cy="558468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F2276-7F04-F3F7-E3CE-F81C8DC63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92281"/>
            <a:ext cx="7734300" cy="558468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802BF-9E0C-3251-8FAE-81F07DB0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DF21-A340-467A-94AB-9502647BB771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F1754-5B8F-A9FA-E8B1-06E04CE2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1E6A8-5139-ECD4-CC0C-32FFC674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243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858A62-FE72-978B-BE71-05908D82E1A4}"/>
              </a:ext>
            </a:extLst>
          </p:cNvPr>
          <p:cNvSpPr/>
          <p:nvPr/>
        </p:nvSpPr>
        <p:spPr>
          <a:xfrm>
            <a:off x="0" y="0"/>
            <a:ext cx="12192000" cy="6860161"/>
          </a:xfrm>
          <a:prstGeom prst="rect">
            <a:avLst/>
          </a:prstGeom>
          <a:solidFill>
            <a:schemeClr val="bg2">
              <a:lumMod val="75000"/>
              <a:alpha val="1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A14B7-4740-5D9F-6489-BAD00C3E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0487F-803F-C5AF-BD93-39C0FC738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7824" y="2157984"/>
            <a:ext cx="10442448" cy="3903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6FCEF-4EDF-C2EF-7D81-FEFF7042F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fld id="{F9B0CB28-85DB-480B-8C99-FD493ACC7120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3BC-4D46-C74D-DDF2-9D25B4D96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B4EAE-CB5C-D14B-77EF-7B155FA68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fld id="{5E4DE196-8A13-4FF7-A07E-102851959EAB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059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orient="horz" pos="3816">
          <p15:clr>
            <a:srgbClr val="F26B43"/>
          </p15:clr>
        </p15:guide>
        <p15:guide id="6" orient="horz" pos="117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-422514"/>
            <a:ext cx="9144000" cy="2387600"/>
          </a:xfrm>
        </p:spPr>
        <p:txBody>
          <a:bodyPr>
            <a:normAutofit/>
          </a:bodyPr>
          <a:lstStyle/>
          <a:p>
            <a:r>
              <a:rPr lang="ru-RU" sz="4400">
                <a:latin typeface="Consolas"/>
                <a:ea typeface="+mj-lt"/>
                <a:cs typeface="+mj-lt"/>
              </a:rPr>
              <a:t>Презентация дипломной работы</a:t>
            </a:r>
            <a:endParaRPr lang="ru-RU" sz="4400">
              <a:latin typeface="Consolas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2276367"/>
            <a:ext cx="9144000" cy="705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ru-RU" b="1">
                <a:latin typeface="Consolas"/>
                <a:ea typeface="+mn-lt"/>
                <a:cs typeface="+mn-lt"/>
              </a:rPr>
              <a:t>На тему: Разработка автоматизированной системы мониторинга и классификации ошибок  с уведомлением в Telegram</a:t>
            </a:r>
            <a:endParaRPr lang="ru-RU" b="1">
              <a:latin typeface="Consola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D7AD9C-B3C6-A43B-BDE2-20F0B2143AB5}"/>
              </a:ext>
            </a:extLst>
          </p:cNvPr>
          <p:cNvSpPr txBox="1"/>
          <p:nvPr/>
        </p:nvSpPr>
        <p:spPr>
          <a:xfrm>
            <a:off x="1522718" y="3276867"/>
            <a:ext cx="1986319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>
                <a:latin typeface="Consolas"/>
                <a:ea typeface="+mn-lt"/>
                <a:cs typeface="+mn-lt"/>
              </a:rPr>
              <a:t>Студентка АНО ПОО ММКЦТ “Академия ТОП” , 4 курс, группа 9/1-РПО-22/1-72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EDB6FF-3C25-BFA7-ADE5-61863EAF7F06}"/>
              </a:ext>
            </a:extLst>
          </p:cNvPr>
          <p:cNvSpPr txBox="1"/>
          <p:nvPr/>
        </p:nvSpPr>
        <p:spPr>
          <a:xfrm>
            <a:off x="4999973" y="3272425"/>
            <a:ext cx="218161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latin typeface="Consolas"/>
              </a:rPr>
              <a:t>Демченко</a:t>
            </a:r>
            <a:r>
              <a:rPr lang="en-US" dirty="0">
                <a:latin typeface="Consolas"/>
              </a:rPr>
              <a:t> </a:t>
            </a:r>
            <a:r>
              <a:rPr lang="en-US" dirty="0" err="1">
                <a:latin typeface="Consolas"/>
              </a:rPr>
              <a:t>Лидия</a:t>
            </a:r>
            <a:r>
              <a:rPr lang="en-US" dirty="0">
                <a:latin typeface="Consolas"/>
              </a:rPr>
              <a:t> </a:t>
            </a:r>
            <a:r>
              <a:rPr lang="en-US" dirty="0" err="1">
                <a:latin typeface="Consolas"/>
              </a:rPr>
              <a:t>Константиновна</a:t>
            </a:r>
            <a:endParaRPr lang="en-US">
              <a:latin typeface="Consolas"/>
            </a:endParaRPr>
          </a:p>
          <a:p>
            <a:pPr algn="ctr"/>
            <a:endParaRPr lang="ru-RU" dirty="0">
              <a:latin typeface="Consola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4FFDC9-3334-D2B9-041F-38969F5AB6A5}"/>
              </a:ext>
            </a:extLst>
          </p:cNvPr>
          <p:cNvSpPr txBox="1"/>
          <p:nvPr/>
        </p:nvSpPr>
        <p:spPr>
          <a:xfrm>
            <a:off x="1524000" y="5349658"/>
            <a:ext cx="198225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latin typeface="Consolas"/>
              </a:rPr>
              <a:t>Научный</a:t>
            </a:r>
            <a:r>
              <a:rPr lang="en-US" dirty="0">
                <a:latin typeface="Consolas"/>
              </a:rPr>
              <a:t> </a:t>
            </a:r>
            <a:r>
              <a:rPr lang="en-US" dirty="0" err="1">
                <a:latin typeface="Consolas"/>
              </a:rPr>
              <a:t>руководитель</a:t>
            </a:r>
            <a:endParaRPr lang="en-US">
              <a:latin typeface="Consolas"/>
            </a:endParaRPr>
          </a:p>
          <a:p>
            <a:pPr algn="ctr"/>
            <a:endParaRPr lang="ru-RU" dirty="0">
              <a:latin typeface="Consola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D8CF02-CE6A-4990-4CBD-F26DB71B6D3E}"/>
              </a:ext>
            </a:extLst>
          </p:cNvPr>
          <p:cNvSpPr txBox="1"/>
          <p:nvPr/>
        </p:nvSpPr>
        <p:spPr>
          <a:xfrm>
            <a:off x="4999973" y="5339217"/>
            <a:ext cx="188934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latin typeface="Consolas"/>
              </a:rPr>
              <a:t>Хамитов</a:t>
            </a:r>
            <a:r>
              <a:rPr lang="en-US" dirty="0">
                <a:latin typeface="Consolas"/>
              </a:rPr>
              <a:t> </a:t>
            </a:r>
            <a:r>
              <a:rPr lang="en-US" dirty="0" err="1">
                <a:latin typeface="Consolas"/>
              </a:rPr>
              <a:t>Илья</a:t>
            </a:r>
            <a:r>
              <a:rPr lang="en-US" dirty="0">
                <a:latin typeface="Consolas"/>
              </a:rPr>
              <a:t> </a:t>
            </a:r>
            <a:r>
              <a:rPr lang="en-US" dirty="0" err="1">
                <a:latin typeface="Consolas"/>
              </a:rPr>
              <a:t>Раильевич</a:t>
            </a:r>
            <a:endParaRPr lang="en-US">
              <a:latin typeface="Consolas"/>
            </a:endParaRPr>
          </a:p>
          <a:p>
            <a:pPr algn="ctr"/>
            <a:endParaRPr lang="ru-RU" dirty="0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23446E-BE70-629F-353E-C894EB34F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>
                <a:latin typeface="Consolas"/>
              </a:rPr>
              <a:t>Актуальность</a:t>
            </a:r>
            <a:endParaRPr lang="ru-RU">
              <a:latin typeface="Consola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F938C3-99A4-D5C5-85AE-B31719525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b="1">
                <a:latin typeface="Consolas"/>
                <a:ea typeface="+mn-lt"/>
                <a:cs typeface="Times New Roman"/>
              </a:rPr>
              <a:t>Проблема:</a:t>
            </a:r>
            <a:r>
              <a:rPr lang="ru-RU">
                <a:latin typeface="Consolas"/>
                <a:ea typeface="+mn-lt"/>
                <a:cs typeface="Times New Roman"/>
              </a:rPr>
              <a:t> ошибки в веб-приложениях остаются незамеченными — нет централизованного сбора и оповещения</a:t>
            </a:r>
            <a:endParaRPr lang="ru-RU">
              <a:latin typeface="Consolas"/>
              <a:cs typeface="Times New Roman"/>
            </a:endParaRPr>
          </a:p>
          <a:p>
            <a:pPr marL="0" indent="0">
              <a:buNone/>
            </a:pPr>
            <a:r>
              <a:rPr lang="ru-RU" b="1">
                <a:latin typeface="Consolas"/>
                <a:ea typeface="+mn-lt"/>
                <a:cs typeface="Times New Roman"/>
              </a:rPr>
              <a:t>Существующие решения имеют ограничения:</a:t>
            </a:r>
            <a:endParaRPr lang="ru-RU">
              <a:latin typeface="Consolas"/>
              <a:cs typeface="Times New Roman"/>
            </a:endParaRPr>
          </a:p>
          <a:p>
            <a:r>
              <a:rPr lang="ru-RU">
                <a:latin typeface="Consolas"/>
                <a:ea typeface="+mn-lt"/>
                <a:cs typeface="Times New Roman"/>
              </a:rPr>
              <a:t>Sentry Cloud — передача данных третьим сторонам</a:t>
            </a:r>
            <a:endParaRPr lang="ru-RU">
              <a:latin typeface="Consolas"/>
              <a:cs typeface="Times New Roman"/>
            </a:endParaRPr>
          </a:p>
          <a:p>
            <a:r>
              <a:rPr lang="ru-RU">
                <a:latin typeface="Consolas"/>
                <a:ea typeface="+mn-lt"/>
                <a:cs typeface="Times New Roman"/>
              </a:rPr>
              <a:t>Datadog — высокая стоимость (~$15–$30/хост/мес.)</a:t>
            </a:r>
            <a:endParaRPr lang="ru-RU">
              <a:latin typeface="Consolas"/>
              <a:cs typeface="Times New Roman"/>
            </a:endParaRPr>
          </a:p>
          <a:p>
            <a:r>
              <a:rPr lang="ru-RU">
                <a:latin typeface="Consolas"/>
                <a:ea typeface="+mn-lt"/>
                <a:cs typeface="Times New Roman"/>
              </a:rPr>
              <a:t>Grafana + Loki — нет автоматической группировки ошибок</a:t>
            </a:r>
            <a:endParaRPr lang="ru-RU">
              <a:latin typeface="Consolas"/>
              <a:cs typeface="Times New Roman"/>
            </a:endParaRPr>
          </a:p>
          <a:p>
            <a:pPr marL="0" indent="0">
              <a:buNone/>
            </a:pPr>
            <a:r>
              <a:rPr lang="ru-RU" b="1">
                <a:latin typeface="Consolas"/>
                <a:ea typeface="+mn-lt"/>
                <a:cs typeface="Times New Roman"/>
              </a:rPr>
              <a:t>Вывод:</a:t>
            </a:r>
            <a:r>
              <a:rPr lang="ru-RU">
                <a:latin typeface="Consolas"/>
                <a:ea typeface="+mn-lt"/>
                <a:cs typeface="Times New Roman"/>
              </a:rPr>
              <a:t> необходима открытая система, развёртываемая на собственной инфраструктуре</a:t>
            </a:r>
            <a:endParaRPr lang="ru-RU">
              <a:latin typeface="Consolas"/>
              <a:cs typeface="Times New Roman"/>
            </a:endParaRPr>
          </a:p>
          <a:p>
            <a:endParaRPr lang="ru-RU" sz="1400" dirty="0">
              <a:latin typeface="Consolas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42941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6FA636-95A9-52F2-E09C-C84CD78A6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>
                <a:latin typeface="Consolas"/>
              </a:rPr>
              <a:t>Цель и задачи</a:t>
            </a:r>
            <a:endParaRPr lang="ru-RU">
              <a:latin typeface="Consola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8FC47D-3F21-A50A-E129-3C74FA2D0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b="1">
                <a:latin typeface="Consolas"/>
                <a:ea typeface="+mn-lt"/>
                <a:cs typeface="+mn-lt"/>
              </a:rPr>
              <a:t>Цель:</a:t>
            </a:r>
            <a:r>
              <a:rPr lang="ru-RU">
                <a:latin typeface="Consolas"/>
                <a:ea typeface="+mn-lt"/>
                <a:cs typeface="+mn-lt"/>
              </a:rPr>
              <a:t> разработать систему централизованного мониторинга ошибок с уведомлением команды</a:t>
            </a:r>
          </a:p>
          <a:p>
            <a:pPr marL="0" indent="0">
              <a:buNone/>
            </a:pPr>
            <a:r>
              <a:rPr lang="ru-RU" b="1">
                <a:latin typeface="Consolas"/>
                <a:ea typeface="+mn-lt"/>
                <a:cs typeface="+mn-lt"/>
              </a:rPr>
              <a:t>Задачи:</a:t>
            </a:r>
            <a:endParaRPr lang="ru-RU">
              <a:latin typeface="Consolas"/>
            </a:endParaRPr>
          </a:p>
          <a:p>
            <a:pPr>
              <a:buAutoNum type="arabicPeriod"/>
            </a:pPr>
            <a:r>
              <a:rPr lang="ru-RU">
                <a:latin typeface="Consolas"/>
                <a:ea typeface="+mn-lt"/>
                <a:cs typeface="+mn-lt"/>
              </a:rPr>
              <a:t>Анализ предметной области и существующих решений</a:t>
            </a:r>
            <a:endParaRPr lang="ru-RU">
              <a:latin typeface="Consolas"/>
            </a:endParaRPr>
          </a:p>
          <a:p>
            <a:pPr>
              <a:buAutoNum type="arabicPeriod"/>
            </a:pPr>
            <a:r>
              <a:rPr lang="ru-RU">
                <a:latin typeface="Consolas"/>
                <a:ea typeface="+mn-lt"/>
                <a:cs typeface="+mn-lt"/>
              </a:rPr>
              <a:t>Проектирование архитектуры системы</a:t>
            </a:r>
            <a:endParaRPr lang="ru-RU">
              <a:latin typeface="Consolas"/>
            </a:endParaRPr>
          </a:p>
          <a:p>
            <a:pPr>
              <a:buAutoNum type="arabicPeriod"/>
            </a:pPr>
            <a:r>
              <a:rPr lang="ru-RU">
                <a:latin typeface="Consolas"/>
                <a:ea typeface="+mn-lt"/>
                <a:cs typeface="+mn-lt"/>
              </a:rPr>
              <a:t>Разработка REST API коллектора</a:t>
            </a:r>
            <a:endParaRPr lang="ru-RU">
              <a:latin typeface="Consolas"/>
            </a:endParaRPr>
          </a:p>
          <a:p>
            <a:pPr>
              <a:buAutoNum type="arabicPeriod"/>
            </a:pPr>
            <a:r>
              <a:rPr lang="ru-RU">
                <a:latin typeface="Consolas"/>
                <a:ea typeface="+mn-lt"/>
                <a:cs typeface="+mn-lt"/>
              </a:rPr>
              <a:t>Реализация Telegram-бота уведомлений</a:t>
            </a:r>
            <a:endParaRPr lang="ru-RU">
              <a:latin typeface="Consolas"/>
            </a:endParaRPr>
          </a:p>
          <a:p>
            <a:pPr>
              <a:buAutoNum type="arabicPeriod"/>
            </a:pPr>
            <a:r>
              <a:rPr lang="ru-RU">
                <a:latin typeface="Consolas"/>
                <a:ea typeface="+mn-lt"/>
                <a:cs typeface="+mn-lt"/>
              </a:rPr>
              <a:t>Разработка клиентских SDK (Python, Node.js, PHP)</a:t>
            </a:r>
            <a:endParaRPr lang="ru-RU">
              <a:latin typeface="Consolas"/>
            </a:endParaRPr>
          </a:p>
          <a:p>
            <a:pPr>
              <a:buAutoNum type="arabicPeriod"/>
            </a:pPr>
            <a:r>
              <a:rPr lang="ru-RU">
                <a:latin typeface="Consolas"/>
                <a:ea typeface="+mn-lt"/>
                <a:cs typeface="+mn-lt"/>
              </a:rPr>
              <a:t>Тестирование: модульное, интеграционное, нагрузочное</a:t>
            </a:r>
            <a:endParaRPr lang="ru-RU">
              <a:latin typeface="Consolas"/>
            </a:endParaRPr>
          </a:p>
          <a:p>
            <a:pPr marL="0" indent="0">
              <a:buNone/>
            </a:pPr>
            <a:endParaRPr lang="ru-RU" sz="1400" b="1" dirty="0">
              <a:latin typeface="Consolas"/>
            </a:endParaRPr>
          </a:p>
          <a:p>
            <a:pPr>
              <a:buAutoNum type="arabicPeriod"/>
            </a:pPr>
            <a:endParaRPr lang="ru-RU" sz="1400" dirty="0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025025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04B3BA-8899-31AC-3FEF-22208CF95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>
                <a:latin typeface="Consolas"/>
              </a:rPr>
              <a:t>Сравнительный анализ решений</a:t>
            </a:r>
            <a:endParaRPr lang="ru-RU">
              <a:latin typeface="Consolas"/>
            </a:endParaRP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ABFE57C3-FA6D-8083-6121-D0E661C968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5967971"/>
              </p:ext>
            </p:extLst>
          </p:nvPr>
        </p:nvGraphicFramePr>
        <p:xfrm>
          <a:off x="877888" y="2157413"/>
          <a:ext cx="10562760" cy="37113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0690">
                  <a:extLst>
                    <a:ext uri="{9D8B030D-6E8A-4147-A177-3AD203B41FA5}">
                      <a16:colId xmlns:a16="http://schemas.microsoft.com/office/drawing/2014/main" val="213035403"/>
                    </a:ext>
                  </a:extLst>
                </a:gridCol>
                <a:gridCol w="2640690">
                  <a:extLst>
                    <a:ext uri="{9D8B030D-6E8A-4147-A177-3AD203B41FA5}">
                      <a16:colId xmlns:a16="http://schemas.microsoft.com/office/drawing/2014/main" val="482396181"/>
                    </a:ext>
                  </a:extLst>
                </a:gridCol>
                <a:gridCol w="2640690">
                  <a:extLst>
                    <a:ext uri="{9D8B030D-6E8A-4147-A177-3AD203B41FA5}">
                      <a16:colId xmlns:a16="http://schemas.microsoft.com/office/drawing/2014/main" val="4024480615"/>
                    </a:ext>
                  </a:extLst>
                </a:gridCol>
                <a:gridCol w="2640690">
                  <a:extLst>
                    <a:ext uri="{9D8B030D-6E8A-4147-A177-3AD203B41FA5}">
                      <a16:colId xmlns:a16="http://schemas.microsoft.com/office/drawing/2014/main" val="3761363295"/>
                    </a:ext>
                  </a:extLst>
                </a:gridCol>
              </a:tblGrid>
              <a:tr h="62536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600" b="1" i="0" u="none" strike="noStrike" noProof="0">
                          <a:solidFill>
                            <a:schemeClr val="bg1"/>
                          </a:solidFill>
                          <a:latin typeface="Consolas"/>
                        </a:rPr>
                        <a:t>Критерий</a:t>
                      </a:r>
                      <a:endParaRPr lang="ru-RU" sz="1600">
                        <a:solidFill>
                          <a:schemeClr val="bg1"/>
                        </a:solidFill>
                        <a:latin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600" b="1" i="0" u="none" strike="noStrike" noProof="0">
                          <a:solidFill>
                            <a:schemeClr val="bg1"/>
                          </a:solidFill>
                          <a:latin typeface="Consolas"/>
                        </a:rPr>
                        <a:t>Sentry</a:t>
                      </a:r>
                      <a:endParaRPr lang="ru-RU" sz="1600">
                        <a:solidFill>
                          <a:schemeClr val="bg1"/>
                        </a:solidFill>
                        <a:latin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600" b="1" i="0" u="none" strike="noStrike" noProof="0">
                          <a:solidFill>
                            <a:schemeClr val="bg1"/>
                          </a:solidFill>
                          <a:latin typeface="Consolas"/>
                        </a:rPr>
                        <a:t>Datadog</a:t>
                      </a:r>
                      <a:endParaRPr lang="ru-RU" sz="1600">
                        <a:solidFill>
                          <a:schemeClr val="bg1"/>
                        </a:solidFill>
                        <a:latin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600" b="1" i="0" u="none" strike="noStrike" noProof="0">
                          <a:solidFill>
                            <a:schemeClr val="bg1"/>
                          </a:solidFill>
                          <a:latin typeface="Consolas"/>
                        </a:rPr>
                        <a:t>Разработанная система</a:t>
                      </a:r>
                      <a:endParaRPr lang="ru-RU" sz="1600">
                        <a:solidFill>
                          <a:schemeClr val="bg1"/>
                        </a:solidFill>
                        <a:latin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8895720"/>
                  </a:ext>
                </a:extLst>
              </a:tr>
              <a:tr h="62536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600" b="0" i="0" u="none" strike="noStrike" noProof="0">
                          <a:solidFill>
                            <a:schemeClr val="tx1"/>
                          </a:solidFill>
                          <a:latin typeface="Consolas"/>
                        </a:rPr>
                        <a:t>Self-hosted</a:t>
                      </a:r>
                      <a:endParaRPr lang="ru-RU" sz="1600">
                        <a:solidFill>
                          <a:schemeClr val="tx1"/>
                        </a:solidFill>
                        <a:latin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600" b="0" i="0" u="none" strike="noStrike" noProof="0">
                          <a:solidFill>
                            <a:schemeClr val="tx1"/>
                          </a:solidFill>
                          <a:latin typeface="Consolas"/>
                        </a:rPr>
                        <a:t>платно</a:t>
                      </a:r>
                      <a:endParaRPr lang="ru-RU" sz="1600">
                        <a:solidFill>
                          <a:schemeClr val="tx1"/>
                        </a:solidFill>
                        <a:latin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600" b="0" i="0" u="none" strike="noStrike" noProof="0">
                          <a:solidFill>
                            <a:schemeClr val="tx1"/>
                          </a:solidFill>
                          <a:latin typeface="Consolas"/>
                        </a:rPr>
                        <a:t>нет</a:t>
                      </a:r>
                      <a:endParaRPr lang="ru-RU" sz="1600">
                        <a:solidFill>
                          <a:schemeClr val="tx1"/>
                        </a:solidFill>
                        <a:latin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600" b="0" i="0" u="none" strike="noStrike" noProof="0">
                          <a:solidFill>
                            <a:schemeClr val="tx1"/>
                          </a:solidFill>
                          <a:latin typeface="Consolas"/>
                        </a:rPr>
                        <a:t>да, бесплатно</a:t>
                      </a:r>
                      <a:endParaRPr lang="ru-RU" sz="1600">
                        <a:solidFill>
                          <a:schemeClr val="tx1"/>
                        </a:solidFill>
                        <a:latin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535643"/>
                  </a:ext>
                </a:extLst>
              </a:tr>
              <a:tr h="62536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600" b="0" i="0" u="none" strike="noStrike" noProof="0">
                          <a:solidFill>
                            <a:schemeClr val="tx1"/>
                          </a:solidFill>
                          <a:latin typeface="Consolas"/>
                        </a:rPr>
                        <a:t>Telegram-уведомления</a:t>
                      </a:r>
                      <a:endParaRPr lang="ru-RU" sz="1600">
                        <a:solidFill>
                          <a:schemeClr val="tx1"/>
                        </a:solidFill>
                        <a:latin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600" b="0" i="0" u="none" strike="noStrike" noProof="0">
                          <a:solidFill>
                            <a:schemeClr val="tx1"/>
                          </a:solidFill>
                          <a:latin typeface="Consolas"/>
                        </a:rPr>
                        <a:t>нет</a:t>
                      </a:r>
                      <a:endParaRPr lang="ru-RU" sz="1600">
                        <a:solidFill>
                          <a:schemeClr val="tx1"/>
                        </a:solidFill>
                        <a:latin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600" b="0" i="0" u="none" strike="noStrike" noProof="0">
                          <a:solidFill>
                            <a:schemeClr val="tx1"/>
                          </a:solidFill>
                          <a:latin typeface="Consolas"/>
                        </a:rPr>
                        <a:t>нет</a:t>
                      </a:r>
                      <a:endParaRPr lang="ru-RU" sz="1600">
                        <a:solidFill>
                          <a:schemeClr val="tx1"/>
                        </a:solidFill>
                        <a:latin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600" b="0" i="0" u="none" strike="noStrike" noProof="0">
                          <a:solidFill>
                            <a:schemeClr val="tx1"/>
                          </a:solidFill>
                          <a:latin typeface="Consolas"/>
                        </a:rPr>
                        <a:t>да</a:t>
                      </a:r>
                      <a:endParaRPr lang="ru-RU" sz="1600">
                        <a:solidFill>
                          <a:schemeClr val="tx1"/>
                        </a:solidFill>
                        <a:latin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53276"/>
                  </a:ext>
                </a:extLst>
              </a:tr>
              <a:tr h="62536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600" b="0" i="0" u="none" strike="noStrike" noProof="0">
                          <a:solidFill>
                            <a:schemeClr val="tx1"/>
                          </a:solidFill>
                          <a:latin typeface="Consolas"/>
                        </a:rPr>
                        <a:t>Группировка ошибок</a:t>
                      </a:r>
                      <a:endParaRPr lang="ru-RU" sz="1600">
                        <a:solidFill>
                          <a:schemeClr val="tx1"/>
                        </a:solidFill>
                        <a:latin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600" b="0" i="0" u="none" strike="noStrike" noProof="0">
                          <a:solidFill>
                            <a:schemeClr val="tx1"/>
                          </a:solidFill>
                          <a:latin typeface="Consolas"/>
                        </a:rPr>
                        <a:t>да</a:t>
                      </a:r>
                      <a:endParaRPr lang="ru-RU" sz="1600">
                        <a:solidFill>
                          <a:schemeClr val="tx1"/>
                        </a:solidFill>
                        <a:latin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600" b="0" i="0" u="none" strike="noStrike" noProof="0">
                          <a:solidFill>
                            <a:schemeClr val="tx1"/>
                          </a:solidFill>
                          <a:latin typeface="Consolas"/>
                        </a:rPr>
                        <a:t>да</a:t>
                      </a:r>
                      <a:endParaRPr lang="ru-RU" sz="1600">
                        <a:solidFill>
                          <a:schemeClr val="tx1"/>
                        </a:solidFill>
                        <a:latin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600" b="0" i="0" u="none" strike="noStrike" noProof="0">
                          <a:solidFill>
                            <a:schemeClr val="tx1"/>
                          </a:solidFill>
                          <a:latin typeface="Consolas"/>
                        </a:rPr>
                        <a:t>да</a:t>
                      </a:r>
                      <a:endParaRPr lang="ru-RU" sz="1600">
                        <a:solidFill>
                          <a:schemeClr val="tx1"/>
                        </a:solidFill>
                        <a:latin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400511"/>
                  </a:ext>
                </a:extLst>
              </a:tr>
              <a:tr h="58457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600" b="0" i="0" u="none" strike="noStrike" noProof="0">
                          <a:solidFill>
                            <a:schemeClr val="tx1"/>
                          </a:solidFill>
                          <a:latin typeface="Consolas"/>
                        </a:rPr>
                        <a:t>ИИ-классификация</a:t>
                      </a:r>
                      <a:endParaRPr lang="ru-RU" sz="1600">
                        <a:solidFill>
                          <a:schemeClr val="tx1"/>
                        </a:solidFill>
                        <a:latin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600" b="0" i="0" u="none" strike="noStrike" noProof="0">
                          <a:solidFill>
                            <a:schemeClr val="tx1"/>
                          </a:solidFill>
                          <a:latin typeface="Consolas"/>
                        </a:rPr>
                        <a:t>нет</a:t>
                      </a:r>
                      <a:endParaRPr lang="ru-RU" sz="1600">
                        <a:solidFill>
                          <a:schemeClr val="tx1"/>
                        </a:solidFill>
                        <a:latin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600" b="0" i="0" u="none" strike="noStrike" noProof="0">
                          <a:solidFill>
                            <a:schemeClr val="tx1"/>
                          </a:solidFill>
                          <a:latin typeface="Consolas"/>
                        </a:rPr>
                        <a:t>частично</a:t>
                      </a:r>
                      <a:endParaRPr lang="ru-RU" sz="1600">
                        <a:solidFill>
                          <a:schemeClr val="tx1"/>
                        </a:solidFill>
                        <a:latin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600" b="0" i="0" u="none" strike="noStrike" noProof="0">
                          <a:solidFill>
                            <a:schemeClr val="tx1"/>
                          </a:solidFill>
                          <a:latin typeface="Consolas"/>
                        </a:rPr>
                        <a:t>да (опционально)</a:t>
                      </a:r>
                      <a:endParaRPr lang="ru-RU" sz="1600">
                        <a:solidFill>
                          <a:schemeClr val="tx1"/>
                        </a:solidFill>
                        <a:latin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01800"/>
                  </a:ext>
                </a:extLst>
              </a:tr>
              <a:tr h="62536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600" b="0" i="0" u="none" strike="noStrike" noProof="0">
                          <a:solidFill>
                            <a:schemeClr val="tx1"/>
                          </a:solidFill>
                          <a:latin typeface="Consolas"/>
                        </a:rPr>
                        <a:t>Стоимость</a:t>
                      </a:r>
                      <a:endParaRPr lang="ru-RU" sz="1600">
                        <a:solidFill>
                          <a:schemeClr val="tx1"/>
                        </a:solidFill>
                        <a:latin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600" b="0" i="0" u="none" strike="noStrike" noProof="0">
                          <a:solidFill>
                            <a:schemeClr val="tx1"/>
                          </a:solidFill>
                          <a:latin typeface="Consolas"/>
                        </a:rPr>
                        <a:t>от $26/мес</a:t>
                      </a:r>
                      <a:endParaRPr lang="ru-RU" sz="1600">
                        <a:solidFill>
                          <a:schemeClr val="tx1"/>
                        </a:solidFill>
                        <a:latin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600" b="0" i="0" u="none" strike="noStrike" noProof="0">
                          <a:solidFill>
                            <a:schemeClr val="tx1"/>
                          </a:solidFill>
                          <a:latin typeface="Consolas"/>
                        </a:rPr>
                        <a:t>от $15/хост</a:t>
                      </a:r>
                      <a:endParaRPr lang="ru-RU" sz="1600">
                        <a:solidFill>
                          <a:schemeClr val="tx1"/>
                        </a:solidFill>
                        <a:latin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solidFill>
                            <a:schemeClr val="tx1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9797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5598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EF8DC6-DA41-D6AA-725D-7E5BF81E4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>
                <a:latin typeface="Consolas"/>
              </a:rPr>
              <a:t>Архитектура системы</a:t>
            </a:r>
            <a:endParaRPr lang="ru-RU">
              <a:latin typeface="Consola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9DABA5-9A38-7C36-31F3-B33689DD7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9515" y="1961324"/>
            <a:ext cx="550672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b="1">
                <a:latin typeface="Consolas"/>
                <a:ea typeface="+mn-lt"/>
                <a:cs typeface="+mn-lt"/>
              </a:rPr>
              <a:t>Компоненты:</a:t>
            </a:r>
            <a:endParaRPr lang="ru-RU">
              <a:latin typeface="Consolas"/>
            </a:endParaRPr>
          </a:p>
          <a:p>
            <a:r>
              <a:rPr lang="ru-RU" b="1">
                <a:latin typeface="Consolas"/>
                <a:ea typeface="+mn-lt"/>
                <a:cs typeface="+mn-lt"/>
              </a:rPr>
              <a:t>FastAPI</a:t>
            </a:r>
            <a:r>
              <a:rPr lang="ru-RU">
                <a:latin typeface="Consolas"/>
                <a:ea typeface="+mn-lt"/>
                <a:cs typeface="+mn-lt"/>
              </a:rPr>
              <a:t> — REST API коллектора (</a:t>
            </a:r>
            <a:r>
              <a:rPr lang="ru-RU">
                <a:solidFill>
                  <a:srgbClr val="00B0F0"/>
                </a:solidFill>
                <a:latin typeface="Consolas"/>
              </a:rPr>
              <a:t>/track</a:t>
            </a:r>
            <a:r>
              <a:rPr lang="ru-RU">
                <a:latin typeface="Consolas"/>
                <a:ea typeface="+mn-lt"/>
                <a:cs typeface="+mn-lt"/>
              </a:rPr>
              <a:t>, </a:t>
            </a:r>
            <a:r>
              <a:rPr lang="ru-RU">
                <a:solidFill>
                  <a:srgbClr val="00B0F0"/>
                </a:solidFill>
                <a:latin typeface="Consolas"/>
              </a:rPr>
              <a:t>/logs/upload</a:t>
            </a:r>
            <a:r>
              <a:rPr lang="ru-RU">
                <a:latin typeface="Consolas"/>
                <a:ea typeface="+mn-lt"/>
                <a:cs typeface="+mn-lt"/>
              </a:rPr>
              <a:t>)</a:t>
            </a:r>
            <a:endParaRPr lang="ru-RU">
              <a:latin typeface="Consolas"/>
            </a:endParaRPr>
          </a:p>
          <a:p>
            <a:r>
              <a:rPr lang="ru-RU" b="1">
                <a:latin typeface="Consolas"/>
                <a:ea typeface="+mn-lt"/>
                <a:cs typeface="+mn-lt"/>
              </a:rPr>
              <a:t>PostgreSQL</a:t>
            </a:r>
            <a:r>
              <a:rPr lang="ru-RU">
                <a:latin typeface="Consolas"/>
                <a:ea typeface="+mn-lt"/>
                <a:cs typeface="+mn-lt"/>
              </a:rPr>
              <a:t> — хранение событий, журналов, проектов (JSONB)</a:t>
            </a:r>
            <a:endParaRPr lang="ru-RU">
              <a:latin typeface="Consolas"/>
            </a:endParaRPr>
          </a:p>
          <a:p>
            <a:r>
              <a:rPr lang="ru-RU" b="1">
                <a:latin typeface="Consolas"/>
                <a:ea typeface="+mn-lt"/>
                <a:cs typeface="+mn-lt"/>
              </a:rPr>
              <a:t>Redis + Celery</a:t>
            </a:r>
            <a:r>
              <a:rPr lang="ru-RU">
                <a:latin typeface="Consolas"/>
                <a:ea typeface="+mn-lt"/>
                <a:cs typeface="+mn-lt"/>
              </a:rPr>
              <a:t> — асинхронная обработка и планировщик</a:t>
            </a:r>
            <a:endParaRPr lang="ru-RU">
              <a:latin typeface="Consolas"/>
            </a:endParaRPr>
          </a:p>
          <a:p>
            <a:r>
              <a:rPr lang="ru-RU" b="1">
                <a:latin typeface="Consolas"/>
                <a:ea typeface="+mn-lt"/>
                <a:cs typeface="+mn-lt"/>
              </a:rPr>
              <a:t>aiogram</a:t>
            </a:r>
            <a:r>
              <a:rPr lang="ru-RU">
                <a:latin typeface="Consolas"/>
                <a:ea typeface="+mn-lt"/>
                <a:cs typeface="+mn-lt"/>
              </a:rPr>
              <a:t> — Telegram-бот уведомлений</a:t>
            </a:r>
            <a:endParaRPr lang="ru-RU">
              <a:latin typeface="Consolas"/>
            </a:endParaRPr>
          </a:p>
          <a:p>
            <a:r>
              <a:rPr lang="ru-RU" b="1">
                <a:latin typeface="Consolas"/>
                <a:ea typeface="+mn-lt"/>
                <a:cs typeface="+mn-lt"/>
              </a:rPr>
              <a:t>Docker Compose</a:t>
            </a:r>
            <a:r>
              <a:rPr lang="ru-RU">
                <a:latin typeface="Consolas"/>
                <a:ea typeface="+mn-lt"/>
                <a:cs typeface="+mn-lt"/>
              </a:rPr>
              <a:t> — оркестрация всего стека</a:t>
            </a:r>
            <a:endParaRPr lang="ru-RU">
              <a:latin typeface="Consolas"/>
            </a:endParaRPr>
          </a:p>
          <a:p>
            <a:endParaRPr lang="ru-RU" dirty="0">
              <a:latin typeface="Consolas"/>
            </a:endParaRPr>
          </a:p>
        </p:txBody>
      </p:sp>
      <p:pic>
        <p:nvPicPr>
          <p:cNvPr id="4" name="Рисунок 3" descr="Изображение выглядит как текст, диаграмма, План, Технический чертеж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9E05017-B56B-68CD-C9D0-8A1F5422A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672" y="1054274"/>
            <a:ext cx="5393287" cy="4739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659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C4D222-08DD-22F3-667D-E7AAE4E72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>
                <a:latin typeface="Consolas"/>
              </a:rPr>
              <a:t>Ключевые технические решения</a:t>
            </a:r>
            <a:endParaRPr lang="ru-RU">
              <a:latin typeface="Consola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7A32F0-F68D-F83A-A8AA-33E330ED1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b="1">
                <a:latin typeface="Consolas"/>
                <a:ea typeface="+mn-lt"/>
                <a:cs typeface="+mn-lt"/>
              </a:rPr>
              <a:t>Безопасность API:</a:t>
            </a:r>
            <a:r>
              <a:rPr lang="ru-RU">
                <a:latin typeface="Consolas"/>
                <a:ea typeface="+mn-lt"/>
                <a:cs typeface="+mn-lt"/>
              </a:rPr>
              <a:t> SHA-256 + pepper → хранится только хеш ключа, не сам ключ</a:t>
            </a:r>
            <a:endParaRPr lang="ru-RU" dirty="0">
              <a:latin typeface="Consolas"/>
            </a:endParaRPr>
          </a:p>
          <a:p>
            <a:pPr marL="0" indent="0">
              <a:buNone/>
            </a:pPr>
            <a:r>
              <a:rPr lang="ru-RU" b="1">
                <a:latin typeface="Consolas"/>
                <a:ea typeface="+mn-lt"/>
                <a:cs typeface="+mn-lt"/>
              </a:rPr>
              <a:t>Хранение данных:</a:t>
            </a:r>
            <a:r>
              <a:rPr lang="ru-RU">
                <a:latin typeface="Consolas"/>
                <a:ea typeface="+mn-lt"/>
                <a:cs typeface="+mn-lt"/>
              </a:rPr>
              <a:t> JSONB в PostgreSQL — гибкая структура + полнотекстовый поиск</a:t>
            </a:r>
            <a:endParaRPr lang="ru-RU" dirty="0">
              <a:latin typeface="Consolas"/>
            </a:endParaRPr>
          </a:p>
          <a:p>
            <a:pPr marL="0" indent="0">
              <a:buNone/>
            </a:pPr>
            <a:r>
              <a:rPr lang="ru-RU" b="1">
                <a:latin typeface="Consolas"/>
                <a:ea typeface="+mn-lt"/>
                <a:cs typeface="+mn-lt"/>
              </a:rPr>
              <a:t>Параллелизм:</a:t>
            </a:r>
            <a:r>
              <a:rPr lang="ru-RU">
                <a:latin typeface="Consolas"/>
                <a:ea typeface="+mn-lt"/>
                <a:cs typeface="+mn-lt"/>
              </a:rPr>
              <a:t> Advisory Locks PostgreSQL — защита от дублирования уведомлений</a:t>
            </a:r>
          </a:p>
          <a:p>
            <a:pPr marL="0" indent="0">
              <a:buNone/>
            </a:pPr>
            <a:r>
              <a:rPr lang="ru-RU" b="1">
                <a:latin typeface="Consolas"/>
                <a:ea typeface="+mn-lt"/>
                <a:cs typeface="+mn-lt"/>
              </a:rPr>
              <a:t>ИИ-классификация (опционально):</a:t>
            </a:r>
            <a:r>
              <a:rPr lang="ru-RU">
                <a:latin typeface="Consolas"/>
                <a:ea typeface="+mn-lt"/>
                <a:cs typeface="+mn-lt"/>
              </a:rPr>
              <a:t> LLM через OpenAI-совместимый API → severity + recommendation</a:t>
            </a:r>
            <a:endParaRPr lang="ru-RU" dirty="0">
              <a:latin typeface="Consolas"/>
            </a:endParaRPr>
          </a:p>
          <a:p>
            <a:pPr marL="0" indent="0">
              <a:buNone/>
            </a:pPr>
            <a:endParaRPr lang="ru-RU" dirty="0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097714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FAE399-A842-1845-31B0-F0845FFF9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>
                <a:latin typeface="Consolas"/>
              </a:rPr>
              <a:t>Telegram-бот и уведомления</a:t>
            </a:r>
            <a:endParaRPr lang="ru-RU">
              <a:latin typeface="Consola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800894-5778-1B7B-2CE3-2FF0F2F6E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9515" y="2076146"/>
            <a:ext cx="525272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b="1">
                <a:latin typeface="Consolas"/>
                <a:ea typeface="+mn-lt"/>
                <a:cs typeface="+mn-lt"/>
              </a:rPr>
              <a:t>Функции бота:</a:t>
            </a:r>
            <a:endParaRPr lang="ru-RU" b="1">
              <a:latin typeface="Consolas"/>
            </a:endParaRPr>
          </a:p>
          <a:p>
            <a:r>
              <a:rPr lang="ru-RU" b="1">
                <a:latin typeface="Consolas"/>
                <a:ea typeface="+mn-lt"/>
                <a:cs typeface="+mn-lt"/>
              </a:rPr>
              <a:t>Мгновенные уведомления о новых ошибках</a:t>
            </a:r>
            <a:endParaRPr lang="ru-RU" b="1">
              <a:latin typeface="Consolas"/>
            </a:endParaRPr>
          </a:p>
          <a:p>
            <a:r>
              <a:rPr lang="ru-RU" b="1">
                <a:latin typeface="Consolas"/>
                <a:ea typeface="+mn-lt"/>
                <a:cs typeface="+mn-lt"/>
              </a:rPr>
              <a:t>Дедупликация: повторные события группируются</a:t>
            </a:r>
            <a:endParaRPr lang="ru-RU" b="1">
              <a:latin typeface="Consolas"/>
            </a:endParaRPr>
          </a:p>
          <a:p>
            <a:r>
              <a:rPr lang="ru-RU" b="1">
                <a:latin typeface="Consolas"/>
                <a:ea typeface="+mn-lt"/>
                <a:cs typeface="+mn-lt"/>
              </a:rPr>
              <a:t>Throttling: не более N уведомлений в период</a:t>
            </a:r>
            <a:endParaRPr lang="ru-RU" b="1">
              <a:latin typeface="Consolas"/>
            </a:endParaRPr>
          </a:p>
          <a:p>
            <a:r>
              <a:rPr lang="ru-RU" b="1">
                <a:latin typeface="Consolas"/>
                <a:ea typeface="+mn-lt"/>
                <a:cs typeface="+mn-lt"/>
              </a:rPr>
              <a:t>Еженедельный Excel-отчёт по проектам</a:t>
            </a:r>
            <a:endParaRPr lang="ru-RU" b="1">
              <a:latin typeface="Consolas"/>
            </a:endParaRPr>
          </a:p>
          <a:p>
            <a:r>
              <a:rPr lang="ru-RU" b="1">
                <a:latin typeface="Consolas"/>
                <a:ea typeface="+mn-lt"/>
                <a:cs typeface="+mn-lt"/>
              </a:rPr>
              <a:t>Управление подписками через команды бота</a:t>
            </a:r>
            <a:br>
              <a:rPr lang="en-US" b="1" dirty="0">
                <a:latin typeface="Consolas"/>
              </a:rPr>
            </a:br>
            <a:endParaRPr lang="en-US" b="1">
              <a:latin typeface="Consolas"/>
            </a:endParaRPr>
          </a:p>
        </p:txBody>
      </p:sp>
      <p:pic>
        <p:nvPicPr>
          <p:cNvPr id="4" name="Рисунок 3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6FF25D0-19AB-EC52-20E7-D4B0250C9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665" y="1318494"/>
            <a:ext cx="5041465" cy="422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31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562CCF-24ED-FEAC-DDAB-1BCEACE90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24" y="598683"/>
            <a:ext cx="10449784" cy="1265928"/>
          </a:xfrm>
        </p:spPr>
        <p:txBody>
          <a:bodyPr/>
          <a:lstStyle/>
          <a:p>
            <a:r>
              <a:rPr lang="ru-RU" b="1">
                <a:latin typeface="Consolas"/>
              </a:rPr>
              <a:t>Клиентские SDK</a:t>
            </a:r>
            <a:endParaRPr lang="ru-RU">
              <a:latin typeface="Consola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2BEFBE-D343-6E01-A229-049A74ABF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130" y="2065707"/>
            <a:ext cx="5641723" cy="432002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b="1">
                <a:latin typeface="Consolas"/>
                <a:ea typeface="+mn-lt"/>
                <a:cs typeface="+mn-lt"/>
              </a:rPr>
              <a:t>Поддерживаемые платформы:</a:t>
            </a:r>
            <a:r>
              <a:rPr lang="ru-RU" dirty="0">
                <a:latin typeface="Consolas"/>
                <a:ea typeface="+mn-lt"/>
                <a:cs typeface="+mn-lt"/>
              </a:rPr>
              <a:t> </a:t>
            </a:r>
          </a:p>
          <a:p>
            <a:r>
              <a:rPr lang="ru-RU">
                <a:latin typeface="Consolas"/>
                <a:ea typeface="+mn-lt"/>
                <a:cs typeface="+mn-lt"/>
              </a:rPr>
              <a:t>Python </a:t>
            </a:r>
            <a:endParaRPr lang="ru-RU" dirty="0">
              <a:latin typeface="Consolas"/>
              <a:ea typeface="+mn-lt"/>
              <a:cs typeface="+mn-lt"/>
            </a:endParaRPr>
          </a:p>
          <a:p>
            <a:r>
              <a:rPr lang="ru-RU">
                <a:latin typeface="Consolas"/>
                <a:ea typeface="+mn-lt"/>
                <a:cs typeface="+mn-lt"/>
              </a:rPr>
              <a:t>Node.js </a:t>
            </a:r>
            <a:endParaRPr lang="ru-RU" dirty="0">
              <a:latin typeface="Consolas"/>
              <a:ea typeface="+mn-lt"/>
              <a:cs typeface="+mn-lt"/>
            </a:endParaRPr>
          </a:p>
          <a:p>
            <a:r>
              <a:rPr lang="ru-RU">
                <a:latin typeface="Consolas"/>
                <a:ea typeface="+mn-lt"/>
                <a:cs typeface="+mn-lt"/>
              </a:rPr>
              <a:t>PHP</a:t>
            </a:r>
            <a:endParaRPr lang="ru-RU">
              <a:latin typeface="Consolas"/>
            </a:endParaRPr>
          </a:p>
          <a:p>
            <a:pPr marL="0" indent="0">
              <a:buNone/>
            </a:pPr>
            <a:r>
              <a:rPr lang="ru-RU" b="1">
                <a:latin typeface="Consolas"/>
                <a:ea typeface="+mn-lt"/>
                <a:cs typeface="+mn-lt"/>
              </a:rPr>
              <a:t>Метод загрузки журналов:</a:t>
            </a:r>
            <a:r>
              <a:rPr lang="ru-RU" dirty="0">
                <a:latin typeface="Consolas"/>
                <a:ea typeface="+mn-lt"/>
                <a:cs typeface="+mn-lt"/>
              </a:rPr>
              <a:t> </a:t>
            </a:r>
            <a:r>
              <a:rPr lang="ru-RU">
                <a:latin typeface="Consolas"/>
              </a:rPr>
              <a:t>monitor.upload_log(filename, content)</a:t>
            </a:r>
          </a:p>
          <a:p>
            <a:endParaRPr lang="ru-RU" dirty="0">
              <a:latin typeface="Consola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C354B4-D1F6-ADE9-4588-C1E313D73BC7}"/>
              </a:ext>
            </a:extLst>
          </p:cNvPr>
          <p:cNvSpPr txBox="1"/>
          <p:nvPr/>
        </p:nvSpPr>
        <p:spPr>
          <a:xfrm>
            <a:off x="6514745" y="2408266"/>
            <a:ext cx="5416370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b="1">
                <a:latin typeface="Consolas"/>
                <a:ea typeface="+mn-lt"/>
                <a:cs typeface="+mn-lt"/>
              </a:rPr>
              <a:t>Интеграция в 3 строки кода:</a:t>
            </a:r>
          </a:p>
          <a:p>
            <a:r>
              <a:rPr lang="ru-RU" sz="1600">
                <a:latin typeface="Consolas"/>
                <a:ea typeface="+mn-lt"/>
                <a:cs typeface="+mn-lt"/>
              </a:rPr>
              <a:t># Python</a:t>
            </a:r>
            <a:endParaRPr lang="ru-RU" sz="1600">
              <a:latin typeface="Consolas"/>
            </a:endParaRPr>
          </a:p>
          <a:p>
            <a:r>
              <a:rPr lang="ru-RU" sz="1600">
                <a:solidFill>
                  <a:srgbClr val="00B0F0"/>
                </a:solidFill>
                <a:latin typeface="Consolas"/>
                <a:ea typeface="+mn-lt"/>
                <a:cs typeface="+mn-lt"/>
              </a:rPr>
              <a:t>from </a:t>
            </a:r>
            <a:r>
              <a:rPr lang="ru-RU" sz="1600">
                <a:latin typeface="Consolas"/>
                <a:ea typeface="+mn-lt"/>
                <a:cs typeface="+mn-lt"/>
              </a:rPr>
              <a:t>error_monitor_sdk </a:t>
            </a:r>
            <a:r>
              <a:rPr lang="ru-RU" sz="1600">
                <a:solidFill>
                  <a:srgbClr val="00B0F0"/>
                </a:solidFill>
                <a:latin typeface="Consolas"/>
                <a:ea typeface="+mn-lt"/>
                <a:cs typeface="+mn-lt"/>
              </a:rPr>
              <a:t>import </a:t>
            </a:r>
            <a:r>
              <a:rPr lang="ru-RU" sz="1600">
                <a:latin typeface="Consolas"/>
                <a:ea typeface="+mn-lt"/>
                <a:cs typeface="+mn-lt"/>
              </a:rPr>
              <a:t>ErrorMonitor</a:t>
            </a:r>
            <a:endParaRPr lang="ru-RU" sz="1600">
              <a:latin typeface="Consolas"/>
            </a:endParaRPr>
          </a:p>
          <a:p>
            <a:r>
              <a:rPr lang="ru-RU" sz="1600">
                <a:latin typeface="Consolas"/>
                <a:ea typeface="+mn-lt"/>
                <a:cs typeface="+mn-lt"/>
              </a:rPr>
              <a:t>monitor = ErrorMonitor(url="</a:t>
            </a:r>
            <a:r>
              <a:rPr lang="ru-RU" sz="1600">
                <a:solidFill>
                  <a:srgbClr val="DD6EFF"/>
                </a:solidFill>
                <a:latin typeface="Consolas"/>
                <a:ea typeface="+mn-lt"/>
                <a:cs typeface="+mn-lt"/>
              </a:rPr>
              <a:t>http://collector</a:t>
            </a:r>
            <a:r>
              <a:rPr lang="ru-RU" sz="1600">
                <a:latin typeface="Consolas"/>
                <a:ea typeface="+mn-lt"/>
                <a:cs typeface="+mn-lt"/>
              </a:rPr>
              <a:t>", api_key="</a:t>
            </a:r>
            <a:r>
              <a:rPr lang="ru-RU" sz="1600">
                <a:solidFill>
                  <a:srgbClr val="DD6EFF"/>
                </a:solidFill>
                <a:latin typeface="Consolas"/>
                <a:ea typeface="+mn-lt"/>
                <a:cs typeface="+mn-lt"/>
              </a:rPr>
              <a:t>KEY</a:t>
            </a:r>
            <a:r>
              <a:rPr lang="ru-RU" sz="1600">
                <a:latin typeface="Consolas"/>
                <a:ea typeface="+mn-lt"/>
                <a:cs typeface="+mn-lt"/>
              </a:rPr>
              <a:t>")</a:t>
            </a:r>
            <a:endParaRPr lang="ru-RU" sz="1600">
              <a:latin typeface="Consolas"/>
            </a:endParaRPr>
          </a:p>
          <a:p>
            <a:r>
              <a:rPr lang="ru-RU" sz="1600">
                <a:latin typeface="Consolas"/>
                <a:ea typeface="+mn-lt"/>
                <a:cs typeface="+mn-lt"/>
              </a:rPr>
              <a:t>monitor.track("</a:t>
            </a:r>
            <a:r>
              <a:rPr lang="ru-RU" sz="1600">
                <a:solidFill>
                  <a:srgbClr val="DD6EFF"/>
                </a:solidFill>
                <a:latin typeface="Consolas"/>
                <a:ea typeface="+mn-lt"/>
                <a:cs typeface="+mn-lt"/>
              </a:rPr>
              <a:t>payment_failed</a:t>
            </a:r>
            <a:r>
              <a:rPr lang="ru-RU" sz="1600">
                <a:latin typeface="Consolas"/>
                <a:ea typeface="+mn-lt"/>
                <a:cs typeface="+mn-lt"/>
              </a:rPr>
              <a:t>", meta={"</a:t>
            </a:r>
            <a:r>
              <a:rPr lang="ru-RU" sz="1600">
                <a:solidFill>
                  <a:srgbClr val="DD6EFF"/>
                </a:solidFill>
                <a:latin typeface="Consolas"/>
                <a:ea typeface="+mn-lt"/>
                <a:cs typeface="+mn-lt"/>
              </a:rPr>
              <a:t>order_id</a:t>
            </a:r>
            <a:r>
              <a:rPr lang="ru-RU" sz="1600">
                <a:latin typeface="Consolas"/>
                <a:ea typeface="+mn-lt"/>
                <a:cs typeface="+mn-lt"/>
              </a:rPr>
              <a:t>": </a:t>
            </a:r>
            <a:r>
              <a:rPr lang="ru-RU" sz="1600">
                <a:solidFill>
                  <a:srgbClr val="FFC000"/>
                </a:solidFill>
                <a:latin typeface="Consolas"/>
                <a:ea typeface="+mn-lt"/>
                <a:cs typeface="+mn-lt"/>
              </a:rPr>
              <a:t>42</a:t>
            </a:r>
            <a:r>
              <a:rPr lang="ru-RU" sz="1600">
                <a:latin typeface="Consolas"/>
                <a:ea typeface="+mn-lt"/>
                <a:cs typeface="+mn-lt"/>
              </a:rPr>
              <a:t>})</a:t>
            </a:r>
            <a:endParaRPr lang="ru-RU" sz="1600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932364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01D415-F1B3-1D08-8323-3EDD12C75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>
                <a:latin typeface="Consolas"/>
              </a:rPr>
              <a:t>Результаты тестирования</a:t>
            </a:r>
            <a:endParaRPr lang="ru-RU">
              <a:latin typeface="Consolas"/>
            </a:endParaRP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3C86ECE2-048F-809B-5796-94B72F466F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9646831"/>
              </p:ext>
            </p:extLst>
          </p:nvPr>
        </p:nvGraphicFramePr>
        <p:xfrm>
          <a:off x="838200" y="1961324"/>
          <a:ext cx="5334358" cy="189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179">
                  <a:extLst>
                    <a:ext uri="{9D8B030D-6E8A-4147-A177-3AD203B41FA5}">
                      <a16:colId xmlns:a16="http://schemas.microsoft.com/office/drawing/2014/main" val="2604465113"/>
                    </a:ext>
                  </a:extLst>
                </a:gridCol>
                <a:gridCol w="2667179">
                  <a:extLst>
                    <a:ext uri="{9D8B030D-6E8A-4147-A177-3AD203B41FA5}">
                      <a16:colId xmlns:a16="http://schemas.microsoft.com/office/drawing/2014/main" val="8049001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600" b="1" i="0" u="none" strike="noStrike" noProof="0">
                          <a:latin typeface="Consolas"/>
                        </a:rPr>
                        <a:t>Вид тестирования</a:t>
                      </a:r>
                      <a:endParaRPr lang="ru-RU" sz="1600">
                        <a:latin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600" b="1" i="0" u="none" strike="noStrike" noProof="0">
                          <a:latin typeface="Consolas"/>
                        </a:rPr>
                        <a:t>Результат</a:t>
                      </a:r>
                      <a:endParaRPr lang="ru-RU" sz="1600">
                        <a:latin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6405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600" b="0" i="0" u="none" strike="noStrike" noProof="0">
                          <a:latin typeface="Consolas"/>
                        </a:rPr>
                        <a:t>Модульное (17 тестов)</a:t>
                      </a:r>
                      <a:endParaRPr lang="ru-RU" sz="1600">
                        <a:latin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600" b="0" i="0" u="none" strike="noStrike" noProof="0">
                          <a:latin typeface="Consolas"/>
                        </a:rPr>
                        <a:t>все пройдены</a:t>
                      </a:r>
                      <a:endParaRPr lang="ru-RU" sz="1600">
                        <a:latin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0485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600" b="0" i="0" u="none" strike="noStrike" noProof="0">
                          <a:latin typeface="Consolas"/>
                        </a:rPr>
                        <a:t>Интеграционное (12 тестов)</a:t>
                      </a:r>
                      <a:endParaRPr lang="ru-RU" sz="1600">
                        <a:latin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600" b="0" i="0" u="none" strike="noStrike" noProof="0">
                          <a:latin typeface="Consolas"/>
                        </a:rPr>
                        <a:t>все пройдены</a:t>
                      </a:r>
                      <a:endParaRPr lang="ru-RU" sz="1600">
                        <a:latin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2598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600" b="0" i="0" u="none" strike="noStrike" noProof="0">
                          <a:latin typeface="Consolas"/>
                        </a:rPr>
                        <a:t>Нагрузочное (Locust, 93,5 RPS)</a:t>
                      </a:r>
                      <a:endParaRPr lang="ru-RU" sz="1600">
                        <a:latin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600" b="1" i="0" u="none" strike="noStrike" noProof="0">
                          <a:latin typeface="Consolas"/>
                        </a:rPr>
                        <a:t>0% ошибок</a:t>
                      </a:r>
                      <a:r>
                        <a:rPr lang="ru-RU" sz="1600" b="0" i="0" u="none" strike="noStrike" noProof="0">
                          <a:latin typeface="Consolas"/>
                        </a:rPr>
                        <a:t>, медиана 820 мс</a:t>
                      </a:r>
                      <a:endParaRPr lang="ru-RU" sz="1600">
                        <a:latin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73443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FD0BB9A-91E4-0D53-9135-F624C023B2C2}"/>
              </a:ext>
            </a:extLst>
          </p:cNvPr>
          <p:cNvSpPr txBox="1"/>
          <p:nvPr/>
        </p:nvSpPr>
        <p:spPr>
          <a:xfrm>
            <a:off x="839052" y="3965348"/>
            <a:ext cx="447114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>
                <a:latin typeface="Consolas"/>
                <a:ea typeface="+mn-lt"/>
                <a:cs typeface="+mn-lt"/>
              </a:rPr>
              <a:t>Система стабильна под нагрузкой; отказов не зафиксировано</a:t>
            </a:r>
            <a:endParaRPr lang="ru-RU" sz="1600">
              <a:latin typeface="Consolas"/>
            </a:endParaRPr>
          </a:p>
        </p:txBody>
      </p:sp>
      <p:pic>
        <p:nvPicPr>
          <p:cNvPr id="3" name="Рисунок 2" descr="Изображение выглядит как текст, снимок экрана, программное обеспечение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5FD2A30-EF10-C572-FEA5-63358F28C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805" y="702501"/>
            <a:ext cx="5321213" cy="2989545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4261734-58F7-F845-7BEA-6B311E716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805" y="3702746"/>
            <a:ext cx="5321212" cy="271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027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D7DD1F-F47C-AAC9-1AC0-DA06DD925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>
                <a:latin typeface="Consolas"/>
              </a:rPr>
              <a:t>Заключение</a:t>
            </a:r>
            <a:endParaRPr lang="ru-RU">
              <a:latin typeface="Consola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522329-F141-D559-FB4A-B1668189E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b="1">
                <a:latin typeface="Consolas"/>
                <a:ea typeface="+mn-lt"/>
                <a:cs typeface="+mn-lt"/>
              </a:rPr>
              <a:t>Разработано и введено в эксплуатацию:</a:t>
            </a:r>
            <a:endParaRPr lang="ru-RU">
              <a:latin typeface="Consolas"/>
            </a:endParaRPr>
          </a:p>
          <a:p>
            <a:r>
              <a:rPr lang="ru-RU">
                <a:latin typeface="Consolas"/>
                <a:ea typeface="+mn-lt"/>
                <a:cs typeface="+mn-lt"/>
              </a:rPr>
              <a:t>REST API коллектора с валидацией и аутентификацией</a:t>
            </a:r>
            <a:endParaRPr lang="ru-RU">
              <a:latin typeface="Consolas"/>
            </a:endParaRPr>
          </a:p>
          <a:p>
            <a:r>
              <a:rPr lang="ru-RU">
                <a:latin typeface="Consolas"/>
                <a:ea typeface="+mn-lt"/>
                <a:cs typeface="+mn-lt"/>
              </a:rPr>
              <a:t>Механизм асинхронной обработки на Celery</a:t>
            </a:r>
            <a:endParaRPr lang="ru-RU">
              <a:latin typeface="Consolas"/>
            </a:endParaRPr>
          </a:p>
          <a:p>
            <a:r>
              <a:rPr lang="ru-RU">
                <a:latin typeface="Consolas"/>
                <a:ea typeface="+mn-lt"/>
                <a:cs typeface="+mn-lt"/>
              </a:rPr>
              <a:t>Telegram-бот с дедупликацией и еженедельными отчётами</a:t>
            </a:r>
            <a:endParaRPr lang="ru-RU">
              <a:latin typeface="Consolas"/>
            </a:endParaRPr>
          </a:p>
          <a:p>
            <a:r>
              <a:rPr lang="ru-RU">
                <a:latin typeface="Consolas"/>
                <a:ea typeface="+mn-lt"/>
                <a:cs typeface="+mn-lt"/>
              </a:rPr>
              <a:t>Клиентские SDK для трёх платформ</a:t>
            </a:r>
            <a:endParaRPr lang="ru-RU">
              <a:latin typeface="Consolas"/>
            </a:endParaRPr>
          </a:p>
          <a:p>
            <a:r>
              <a:rPr lang="ru-RU">
                <a:latin typeface="Consolas"/>
                <a:ea typeface="+mn-lt"/>
                <a:cs typeface="+mn-lt"/>
              </a:rPr>
              <a:t>Веб-интерфейс управления проектами</a:t>
            </a:r>
            <a:endParaRPr lang="ru-RU">
              <a:latin typeface="Consolas"/>
            </a:endParaRPr>
          </a:p>
          <a:p>
            <a:pPr marL="0" indent="0">
              <a:buNone/>
            </a:pPr>
            <a:r>
              <a:rPr lang="ru-RU" b="1">
                <a:latin typeface="Consolas"/>
                <a:ea typeface="+mn-lt"/>
                <a:cs typeface="+mn-lt"/>
              </a:rPr>
              <a:t>Практическая значимость:</a:t>
            </a:r>
            <a:r>
              <a:rPr lang="ru-RU">
                <a:latin typeface="Consolas"/>
                <a:ea typeface="+mn-lt"/>
                <a:cs typeface="+mn-lt"/>
              </a:rPr>
              <a:t> система готова к использованию, развёртывается одной командой, не требует облачных сервисов</a:t>
            </a:r>
            <a:endParaRPr lang="ru-RU">
              <a:latin typeface="Consolas"/>
            </a:endParaRPr>
          </a:p>
          <a:p>
            <a:endParaRPr lang="ru-RU" dirty="0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189864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2DC5944B-9802-3B42-A969-674BDABAA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5769" y="2961737"/>
            <a:ext cx="7206559" cy="92888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ru-RU" sz="5400" b="1">
                <a:latin typeface="Consolas"/>
                <a:ea typeface="+mn-lt"/>
                <a:cs typeface="+mn-lt"/>
              </a:rPr>
              <a:t>Спасибо за внимание!</a:t>
            </a:r>
            <a:endParaRPr lang="ru-RU" sz="5400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34316997"/>
      </p:ext>
    </p:extLst>
  </p:cSld>
  <p:clrMapOvr>
    <a:masterClrMapping/>
  </p:clrMapOvr>
</p:sld>
</file>

<file path=ppt/theme/theme1.xml><?xml version="1.0" encoding="utf-8"?>
<a:theme xmlns:a="http://schemas.openxmlformats.org/drawingml/2006/main" name="BohoVogueVTI">
  <a:themeElements>
    <a:clrScheme name="BohoVogueVTI">
      <a:dk1>
        <a:sysClr val="windowText" lastClr="000000"/>
      </a:dk1>
      <a:lt1>
        <a:sysClr val="window" lastClr="FFFFFF"/>
      </a:lt1>
      <a:dk2>
        <a:srgbClr val="35403A"/>
      </a:dk2>
      <a:lt2>
        <a:srgbClr val="F1EFEB"/>
      </a:lt2>
      <a:accent1>
        <a:srgbClr val="9E8B50"/>
      </a:accent1>
      <a:accent2>
        <a:srgbClr val="D5966B"/>
      </a:accent2>
      <a:accent3>
        <a:srgbClr val="9BA6BB"/>
      </a:accent3>
      <a:accent4>
        <a:srgbClr val="869880"/>
      </a:accent4>
      <a:accent5>
        <a:srgbClr val="588267"/>
      </a:accent5>
      <a:accent6>
        <a:srgbClr val="B89C46"/>
      </a:accent6>
      <a:hlink>
        <a:srgbClr val="C77138"/>
      </a:hlink>
      <a:folHlink>
        <a:srgbClr val="589374"/>
      </a:folHlink>
    </a:clrScheme>
    <a:fontScheme name="BohoVogueVTI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BohoVogu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hoVogueVTI" id="{587E0025-A466-4551-A341-1A9F570FDF06}" vid="{F615CBBD-D1BB-4663-887F-92A47C7C6A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BohoVogueVTI</vt:lpstr>
      <vt:lpstr>Презентация дипломной работы</vt:lpstr>
      <vt:lpstr>Актуальность</vt:lpstr>
      <vt:lpstr>Цель и задачи</vt:lpstr>
      <vt:lpstr>Сравнительный анализ решений</vt:lpstr>
      <vt:lpstr>Архитектура системы</vt:lpstr>
      <vt:lpstr>Ключевые технические решения</vt:lpstr>
      <vt:lpstr>Telegram-бот и уведомления</vt:lpstr>
      <vt:lpstr>Клиентские SDK</vt:lpstr>
      <vt:lpstr>Результаты тестирования</vt:lpstr>
      <vt:lpstr>Заключение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185</cp:revision>
  <dcterms:created xsi:type="dcterms:W3CDTF">2026-04-30T12:16:24Z</dcterms:created>
  <dcterms:modified xsi:type="dcterms:W3CDTF">2026-05-01T16:00:47Z</dcterms:modified>
</cp:coreProperties>
</file>